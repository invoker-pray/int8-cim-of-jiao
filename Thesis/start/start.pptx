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3"/>
    <p:sldId id="258" r:id="rId4"/>
    <p:sldId id="259" r:id="rId5"/>
    <p:sldId id="260" r:id="rId6"/>
    <p:sldId id="261" r:id="rId7"/>
    <p:sldId id="27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Calibri" panose="020F0502020204030204" charset="0"/>
      <p:regular r:id="rId22"/>
      <p:bold r:id="rId23"/>
      <p:italic r:id="rId24"/>
      <p:boldItalic r:id="rId25"/>
    </p:embeddedFont>
    <p:embeddedFont>
      <p:font typeface="Calibri" panose="020F0502020204030204" pitchFamily="34" charset="-122"/>
      <p:regular r:id="rId26"/>
    </p:embeddedFont>
    <p:embeddedFont>
      <p:font typeface="Calibri" panose="020F0502020204030204" pitchFamily="34" charset="-120"/>
      <p:regular r:id="rId27"/>
    </p:embeddedFont>
    <p:embeddedFont>
      <p:font typeface="Segoe Print" panose="02000600000000000000" charset="0"/>
      <p:regular r:id="rId28"/>
      <p:bold r:id="rId29"/>
    </p:embeddedFont>
    <p:embeddedFont>
      <p:font typeface="Cormorant Garamond Bold Italics" panose="00000800000000000000"/>
      <p:boldItalic r:id="rId30"/>
    </p:embeddedFont>
    <p:embeddedFont>
      <p:font typeface="Microsoft JhengHei UI Light" panose="020B0304030504040204" charset="-120"/>
      <p:regular r:id="rId31"/>
    </p:embeddedFont>
    <p:embeddedFont>
      <p:font typeface="Cormorant Garamond Bold" panose="00000800000000000000"/>
      <p:bold r:id="rId32"/>
    </p:embeddedFont>
    <p:embeddedFont>
      <p:font typeface="Microsoft JhengHei Light" panose="020B0304030504040204" charset="-12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9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font" Target="fonts/font12.fntdata"/><Relationship Id="rId32" Type="http://schemas.openxmlformats.org/officeDocument/2006/relationships/font" Target="fonts/font11.fntdata"/><Relationship Id="rId31" Type="http://schemas.openxmlformats.org/officeDocument/2006/relationships/font" Target="fonts/font10.fntdata"/><Relationship Id="rId30" Type="http://schemas.openxmlformats.org/officeDocument/2006/relationships/font" Target="fonts/font9.fntdata"/><Relationship Id="rId3" Type="http://schemas.openxmlformats.org/officeDocument/2006/relationships/slide" Target="slides/slide1.xml"/><Relationship Id="rId29" Type="http://schemas.openxmlformats.org/officeDocument/2006/relationships/font" Target="fonts/font8.fntdata"/><Relationship Id="rId28" Type="http://schemas.openxmlformats.org/officeDocument/2006/relationships/font" Target="fonts/font7.fntdata"/><Relationship Id="rId27" Type="http://schemas.openxmlformats.org/officeDocument/2006/relationships/font" Target="fonts/font6.fntdata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3.png"/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svg"/><Relationship Id="rId3" Type="http://schemas.openxmlformats.org/officeDocument/2006/relationships/image" Target="../media/image5.png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5.sv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6.sv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.svg"/><Relationship Id="rId3" Type="http://schemas.openxmlformats.org/officeDocument/2006/relationships/image" Target="../media/image11.png"/><Relationship Id="rId2" Type="http://schemas.openxmlformats.org/officeDocument/2006/relationships/image" Target="../media/image5.sv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7.svg"/><Relationship Id="rId3" Type="http://schemas.openxmlformats.org/officeDocument/2006/relationships/image" Target="../media/image11.png"/><Relationship Id="rId2" Type="http://schemas.openxmlformats.org/officeDocument/2006/relationships/image" Target="../media/image5.sv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png"/><Relationship Id="rId2" Type="http://schemas.openxmlformats.org/officeDocument/2006/relationships/image" Target="../media/image8.sv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0.svg"/><Relationship Id="rId3" Type="http://schemas.openxmlformats.org/officeDocument/2006/relationships/image" Target="../media/image17.png"/><Relationship Id="rId2" Type="http://schemas.openxmlformats.org/officeDocument/2006/relationships/image" Target="../media/image9.svg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0.png"/><Relationship Id="rId2" Type="http://schemas.openxmlformats.org/officeDocument/2006/relationships/image" Target="../media/image11.svg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2.png"/><Relationship Id="rId2" Type="http://schemas.openxmlformats.org/officeDocument/2006/relationships/image" Target="../media/image12.svg"/><Relationship Id="rId1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svg"/><Relationship Id="rId1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2204" r="-2204"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3809790" y="0"/>
            <a:ext cx="4478210" cy="3525572"/>
          </a:xfrm>
          <a:custGeom>
            <a:avLst/>
            <a:gdLst/>
            <a:ahLst/>
            <a:cxnLst/>
            <a:rect l="l" t="t" r="r" b="b"/>
            <a:pathLst>
              <a:path w="4478210" h="3525572">
                <a:moveTo>
                  <a:pt x="4478210" y="0"/>
                </a:moveTo>
                <a:lnTo>
                  <a:pt x="0" y="0"/>
                </a:lnTo>
                <a:lnTo>
                  <a:pt x="0" y="3525572"/>
                </a:lnTo>
                <a:lnTo>
                  <a:pt x="4478210" y="3525572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3809790" y="5826116"/>
            <a:ext cx="4478210" cy="4478210"/>
          </a:xfrm>
          <a:custGeom>
            <a:avLst/>
            <a:gdLst/>
            <a:ahLst/>
            <a:cxnLst/>
            <a:rect l="l" t="t" r="r" b="b"/>
            <a:pathLst>
              <a:path w="4478210" h="4478210">
                <a:moveTo>
                  <a:pt x="4478210" y="0"/>
                </a:moveTo>
                <a:lnTo>
                  <a:pt x="0" y="0"/>
                </a:lnTo>
                <a:lnTo>
                  <a:pt x="0" y="4478210"/>
                </a:lnTo>
                <a:lnTo>
                  <a:pt x="4478210" y="4478210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608093" y="2221677"/>
            <a:ext cx="10368096" cy="2950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505"/>
              </a:lnSpc>
            </a:pPr>
            <a:r>
              <a:rPr lang="en-US" sz="6000" b="1" dirty="0">
                <a:solidFill>
                  <a:srgbClr val="6D28D9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低功耗 Int8 数字存算一体架构设计与 FPGA 验证</a:t>
            </a:r>
            <a:r>
              <a:rPr lang="zh-CN" altLang="en-US" sz="6000" b="1" dirty="0">
                <a:solidFill>
                  <a:srgbClr val="6D28D9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开题报告</a:t>
            </a:r>
            <a:endParaRPr lang="zh-CN" altLang="en-US" sz="6000" b="1" dirty="0">
              <a:solidFill>
                <a:srgbClr val="6D28D9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608093" y="6813281"/>
            <a:ext cx="10368096" cy="574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</a:pPr>
            <a:r>
              <a:rPr lang="zh-CN" altLang="en-US" sz="3200">
                <a:solidFill>
                  <a:srgbClr val="2D388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  <a:sym typeface="Glacial Indifference"/>
              </a:rPr>
              <a:t>微电子强芯 </a:t>
            </a:r>
            <a:r>
              <a:rPr lang="en-US" altLang="zh-CN" sz="3200">
                <a:solidFill>
                  <a:srgbClr val="2D388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  <a:sym typeface="Glacial Indifference"/>
              </a:rPr>
              <a:t>2201   </a:t>
            </a:r>
            <a:r>
              <a:rPr lang="zh-CN" altLang="en-US" sz="3200">
                <a:solidFill>
                  <a:srgbClr val="2D388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  <a:sym typeface="Glacial Indifference"/>
              </a:rPr>
              <a:t>焦宏宝  </a:t>
            </a:r>
            <a:r>
              <a:rPr lang="en-US" altLang="zh-CN" sz="3200">
                <a:solidFill>
                  <a:srgbClr val="2D388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  <a:sym typeface="Glacial Indifference"/>
              </a:rPr>
              <a:t>2221411116</a:t>
            </a:r>
            <a:endParaRPr lang="en-US" altLang="zh-CN" sz="3200">
              <a:solidFill>
                <a:srgbClr val="2D3880"/>
              </a:solidFill>
              <a:latin typeface="Segoe Print" panose="02000600000000000000" charset="0"/>
              <a:ea typeface="Segoe Print" panose="02000600000000000000" charset="0"/>
              <a:cs typeface="Segoe Print" panose="02000600000000000000" charset="0"/>
              <a:sym typeface="Glacial Indifference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608093" y="8340811"/>
            <a:ext cx="10368096" cy="574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2D388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  <a:sym typeface="Glacial Indifference"/>
              </a:rPr>
              <a:t>2026/01/13</a:t>
            </a:r>
            <a:endParaRPr lang="en-US" sz="3200">
              <a:solidFill>
                <a:srgbClr val="2D3880"/>
              </a:solidFill>
              <a:latin typeface="Segoe Print" panose="02000600000000000000" charset="0"/>
              <a:ea typeface="Segoe Print" panose="02000600000000000000" charset="0"/>
              <a:cs typeface="Segoe Print" panose="02000600000000000000" charset="0"/>
              <a:sym typeface="Glacial Indifference"/>
            </a:endParaRPr>
          </a:p>
        </p:txBody>
      </p:sp>
      <p:sp>
        <p:nvSpPr>
          <p:cNvPr id="10" name="AutoShape 10"/>
          <p:cNvSpPr/>
          <p:nvPr/>
        </p:nvSpPr>
        <p:spPr>
          <a:xfrm flipH="1">
            <a:off x="1925123" y="2951394"/>
            <a:ext cx="0" cy="5843443"/>
          </a:xfrm>
          <a:prstGeom prst="line">
            <a:avLst/>
          </a:prstGeom>
          <a:ln w="57150" cap="flat">
            <a:solidFill>
              <a:srgbClr val="2D388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文本框 10"/>
          <p:cNvSpPr txBox="1"/>
          <p:nvPr/>
        </p:nvSpPr>
        <p:spPr>
          <a:xfrm>
            <a:off x="2607945" y="7634605"/>
            <a:ext cx="5417820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solidFill>
                  <a:srgbClr val="2D388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指导老师：梁峰</a:t>
            </a:r>
            <a:endParaRPr lang="zh-CN" altLang="en-US" sz="3200">
              <a:solidFill>
                <a:srgbClr val="2D3880"/>
              </a:solidFill>
              <a:latin typeface="Segoe Print" panose="02000600000000000000" charset="0"/>
              <a:ea typeface="Segoe Print" panose="02000600000000000000" charset="0"/>
              <a:cs typeface="Segoe Print" panose="02000600000000000000" charset="0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5796756"/>
            <a:ext cx="5703543" cy="4490244"/>
          </a:xfrm>
          <a:custGeom>
            <a:avLst/>
            <a:gdLst/>
            <a:ahLst/>
            <a:cxnLst/>
            <a:rect l="l" t="t" r="r" b="b"/>
            <a:pathLst>
              <a:path w="5703543" h="4490244">
                <a:moveTo>
                  <a:pt x="0" y="4490244"/>
                </a:moveTo>
                <a:lnTo>
                  <a:pt x="5703543" y="4490244"/>
                </a:lnTo>
                <a:lnTo>
                  <a:pt x="5703543" y="0"/>
                </a:lnTo>
                <a:lnTo>
                  <a:pt x="0" y="0"/>
                </a:lnTo>
                <a:lnTo>
                  <a:pt x="0" y="4490244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587794" y="6483050"/>
            <a:ext cx="3700206" cy="3803950"/>
          </a:xfrm>
          <a:custGeom>
            <a:avLst/>
            <a:gdLst/>
            <a:ahLst/>
            <a:cxnLst/>
            <a:rect l="l" t="t" r="r" b="b"/>
            <a:pathLst>
              <a:path w="3700206" h="3803950">
                <a:moveTo>
                  <a:pt x="0" y="0"/>
                </a:moveTo>
                <a:lnTo>
                  <a:pt x="3700206" y="0"/>
                </a:lnTo>
                <a:lnTo>
                  <a:pt x="3700206" y="3803950"/>
                </a:lnTo>
                <a:lnTo>
                  <a:pt x="0" y="38039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786379" y="895350"/>
            <a:ext cx="12715243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7200" b="1" i="1">
                <a:solidFill>
                  <a:srgbClr val="2D3880"/>
                </a:solidFill>
                <a:latin typeface="Cormorant Garamond Bold Italics" panose="00000800000000000000"/>
                <a:ea typeface="Cormorant Garamond Bold Italics" panose="00000800000000000000"/>
                <a:cs typeface="Cormorant Garamond Bold Italics" panose="00000800000000000000"/>
                <a:sym typeface="Cormorant Garamond Bold Italics" panose="00000800000000000000"/>
              </a:rPr>
              <a:t>Agenda Overview</a:t>
            </a:r>
            <a:endParaRPr lang="en-US" sz="7200" b="1" i="1">
              <a:solidFill>
                <a:srgbClr val="2D3880"/>
              </a:solidFill>
              <a:latin typeface="Cormorant Garamond Bold Italics" panose="00000800000000000000"/>
              <a:ea typeface="Cormorant Garamond Bold Italics" panose="00000800000000000000"/>
              <a:cs typeface="Cormorant Garamond Bold Italics" panose="00000800000000000000"/>
              <a:sym typeface="Cormorant Garamond Bold Italics" panose="00000800000000000000"/>
            </a:endParaRPr>
          </a:p>
        </p:txBody>
      </p:sp>
      <p:grpSp>
        <p:nvGrpSpPr>
          <p:cNvPr id="5" name="Group 5"/>
          <p:cNvGrpSpPr/>
          <p:nvPr/>
        </p:nvGrpSpPr>
        <p:grpSpPr>
          <a:xfrm rot="0">
            <a:off x="2786379" y="3029301"/>
            <a:ext cx="842787" cy="84278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Segoe Print" panose="02000600000000000000" charset="0"/>
                  <a:ea typeface="Segoe Print" panose="02000600000000000000" charset="0"/>
                  <a:cs typeface="Segoe Print" panose="02000600000000000000" charset="0"/>
                  <a:sym typeface="Glacial Indifference"/>
                </a:rPr>
                <a:t>01</a:t>
              </a:r>
              <a:endParaRPr lang="en-US" sz="280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  <a:sym typeface="Glacial Indifference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2786379" y="4157838"/>
            <a:ext cx="842787" cy="84278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Segoe Print" panose="02000600000000000000" charset="0"/>
                  <a:ea typeface="Segoe Print" panose="02000600000000000000" charset="0"/>
                  <a:cs typeface="Segoe Print" panose="02000600000000000000" charset="0"/>
                  <a:sym typeface="Glacial Indifference"/>
                </a:rPr>
                <a:t>02</a:t>
              </a:r>
              <a:endParaRPr lang="en-US" sz="280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  <a:sym typeface="Glacial Indifference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2786379" y="5286375"/>
            <a:ext cx="842787" cy="84278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Segoe Print" panose="02000600000000000000" charset="0"/>
                  <a:ea typeface="Segoe Print" panose="02000600000000000000" charset="0"/>
                  <a:cs typeface="Segoe Print" panose="02000600000000000000" charset="0"/>
                  <a:sym typeface="Glacial Indifference"/>
                </a:rPr>
                <a:t>03</a:t>
              </a:r>
              <a:endParaRPr lang="en-US" sz="280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  <a:sym typeface="Glacial Indifference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0">
            <a:off x="2786379" y="6414912"/>
            <a:ext cx="842787" cy="84278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Segoe Print" panose="02000600000000000000" charset="0"/>
                  <a:ea typeface="Segoe Print" panose="02000600000000000000" charset="0"/>
                  <a:cs typeface="Segoe Print" panose="02000600000000000000" charset="0"/>
                  <a:sym typeface="Glacial Indifference"/>
                </a:rPr>
                <a:t>04</a:t>
              </a:r>
              <a:endParaRPr lang="en-US" sz="280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  <a:sym typeface="Glacial Indifference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9494202" y="3029301"/>
            <a:ext cx="842787" cy="842787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Segoe Print" panose="02000600000000000000" charset="0"/>
                  <a:ea typeface="Segoe Print" panose="02000600000000000000" charset="0"/>
                  <a:cs typeface="Segoe Print" panose="02000600000000000000" charset="0"/>
                  <a:sym typeface="Glacial Indifference"/>
                </a:rPr>
                <a:t>05</a:t>
              </a:r>
              <a:endParaRPr lang="en-US" sz="280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  <a:sym typeface="Glacial Indifference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0">
            <a:off x="9494202" y="4157838"/>
            <a:ext cx="842787" cy="842787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Segoe Print" panose="02000600000000000000" charset="0"/>
                  <a:ea typeface="Segoe Print" panose="02000600000000000000" charset="0"/>
                  <a:cs typeface="Segoe Print" panose="02000600000000000000" charset="0"/>
                  <a:sym typeface="Glacial Indifference"/>
                </a:rPr>
                <a:t>06</a:t>
              </a:r>
              <a:endParaRPr lang="en-US" sz="280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  <a:sym typeface="Glacial Indifference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 rot="0">
            <a:off x="9494202" y="5286375"/>
            <a:ext cx="842787" cy="842787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Segoe Print" panose="02000600000000000000" charset="0"/>
                  <a:ea typeface="Segoe Print" panose="02000600000000000000" charset="0"/>
                  <a:cs typeface="Segoe Print" panose="02000600000000000000" charset="0"/>
                  <a:sym typeface="Glacial Indifference"/>
                </a:rPr>
                <a:t>07</a:t>
              </a:r>
              <a:endParaRPr lang="en-US" sz="280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  <a:sym typeface="Glacial Indifference"/>
              </a:endParaRP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3837582" y="3164945"/>
            <a:ext cx="4955083" cy="574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11182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研究背景</a:t>
            </a:r>
            <a:endParaRPr lang="en-US" sz="3200">
              <a:solidFill>
                <a:srgbClr val="2D3880"/>
              </a:solidFill>
              <a:latin typeface="Segoe Print" panose="02000600000000000000" charset="0"/>
              <a:ea typeface="Segoe Print" panose="02000600000000000000" charset="0"/>
              <a:cs typeface="Segoe Print" panose="02000600000000000000" charset="0"/>
              <a:sym typeface="Glacial Indifference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3837582" y="4293482"/>
            <a:ext cx="4955083" cy="574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11182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国内外研究现状</a:t>
            </a:r>
            <a:endParaRPr lang="en-US" sz="3200">
              <a:solidFill>
                <a:srgbClr val="2D3880"/>
              </a:solidFill>
              <a:latin typeface="Segoe Print" panose="02000600000000000000" charset="0"/>
              <a:ea typeface="Segoe Print" panose="02000600000000000000" charset="0"/>
              <a:cs typeface="Segoe Print" panose="02000600000000000000" charset="0"/>
              <a:sym typeface="Glacial Indifference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3837582" y="5417431"/>
            <a:ext cx="4955083" cy="574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11182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研究目标与可量化指标</a:t>
            </a:r>
            <a:endParaRPr lang="en-US" sz="3200">
              <a:solidFill>
                <a:srgbClr val="2D3880"/>
              </a:solidFill>
              <a:latin typeface="Segoe Print" panose="02000600000000000000" charset="0"/>
              <a:ea typeface="Segoe Print" panose="02000600000000000000" charset="0"/>
              <a:cs typeface="Segoe Print" panose="02000600000000000000" charset="0"/>
              <a:sym typeface="Glacial Indifference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3837582" y="6541381"/>
            <a:ext cx="4955083" cy="574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11182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总体架构与数据流</a:t>
            </a:r>
            <a:endParaRPr lang="en-US" sz="3200">
              <a:solidFill>
                <a:srgbClr val="2D3880"/>
              </a:solidFill>
              <a:latin typeface="Segoe Print" panose="02000600000000000000" charset="0"/>
              <a:ea typeface="Segoe Print" panose="02000600000000000000" charset="0"/>
              <a:cs typeface="Segoe Print" panose="02000600000000000000" charset="0"/>
              <a:sym typeface="Glacial Indifference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0546539" y="3153197"/>
            <a:ext cx="4955083" cy="574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11182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关键模块</a:t>
            </a:r>
            <a:endParaRPr lang="en-US" sz="3200">
              <a:solidFill>
                <a:srgbClr val="2D3880"/>
              </a:solidFill>
              <a:latin typeface="Segoe Print" panose="02000600000000000000" charset="0"/>
              <a:ea typeface="Segoe Print" panose="02000600000000000000" charset="0"/>
              <a:cs typeface="Segoe Print" panose="02000600000000000000" charset="0"/>
              <a:sym typeface="Glacial Indifference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0545406" y="4293482"/>
            <a:ext cx="4956216" cy="574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11182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验证与评估</a:t>
            </a:r>
            <a:endParaRPr lang="en-US" sz="3200">
              <a:solidFill>
                <a:srgbClr val="2D3880"/>
              </a:solidFill>
              <a:latin typeface="Segoe Print" panose="02000600000000000000" charset="0"/>
              <a:ea typeface="Segoe Print" panose="02000600000000000000" charset="0"/>
              <a:cs typeface="Segoe Print" panose="02000600000000000000" charset="0"/>
              <a:sym typeface="Glacial Indifference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0545406" y="5422019"/>
            <a:ext cx="4956216" cy="574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11182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进度计划与预期交付物</a:t>
            </a:r>
            <a:endParaRPr lang="en-US" sz="3200">
              <a:solidFill>
                <a:srgbClr val="2D3880"/>
              </a:solidFill>
              <a:latin typeface="Segoe Print" panose="02000600000000000000" charset="0"/>
              <a:ea typeface="Segoe Print" panose="02000600000000000000" charset="0"/>
              <a:cs typeface="Segoe Print" panose="02000600000000000000" charset="0"/>
              <a:sym typeface="Glacial Indifferenc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3144500" y="0"/>
            <a:ext cx="5143500" cy="5143500"/>
          </a:xfrm>
          <a:custGeom>
            <a:avLst/>
            <a:gdLst/>
            <a:ahLst/>
            <a:cxnLst/>
            <a:rect l="l" t="t" r="r" b="b"/>
            <a:pathLst>
              <a:path w="5143500" h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53670" y="238125"/>
            <a:ext cx="7989570" cy="1153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</a:pPr>
            <a:r>
              <a:rPr lang="en-US" sz="3600" b="1" dirty="0">
                <a:solidFill>
                  <a:srgbClr val="11182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研究背景：边缘AI推理与数据搬运瓶颈</a:t>
            </a:r>
            <a:endParaRPr lang="en-US" sz="3600" b="1" i="1">
              <a:solidFill>
                <a:srgbClr val="2D3880"/>
              </a:solidFill>
              <a:latin typeface="Cormorant Garamond Bold Italics" panose="00000800000000000000"/>
              <a:ea typeface="Cormorant Garamond Bold Italics" panose="00000800000000000000"/>
              <a:cs typeface="Cormorant Garamond Bold Italics" panose="00000800000000000000"/>
              <a:sym typeface="Cormorant Garamond Bold Italics" panose="0000080000000000000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515" y="1686560"/>
            <a:ext cx="8424545" cy="33324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285" y="5367020"/>
            <a:ext cx="8359775" cy="44831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9662160" y="1877695"/>
            <a:ext cx="5873115" cy="78473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/>
              <a:t>	</a:t>
            </a:r>
            <a:r>
              <a:rPr lang="zh-CN" altLang="en-US" sz="3600"/>
              <a:t>以YOLO、SSD为代表的深度学习目标检测算法在不断提升检测精度的同时，也面临着计算密集与内存访问瓶颈的严峻挑战。</a:t>
            </a:r>
            <a:endParaRPr lang="zh-CN" altLang="en-US" sz="3600"/>
          </a:p>
          <a:p>
            <a:r>
              <a:rPr lang="en-US" altLang="zh-CN" sz="3600"/>
              <a:t>	</a:t>
            </a:r>
            <a:r>
              <a:rPr lang="zh-CN" altLang="en-US" sz="3600"/>
              <a:t>处理器性能快速上涨而存储的存取性能上涨较慢，在传统的冯·诺依曼架构下，计算单元与存储器相互分离，导致权重和特征图需要在两者之间频繁搬运。访存速度远滞后于计算速度，引发了严重的内存墙瓶颈和巨大的能耗开销。</a:t>
            </a:r>
            <a:endParaRPr lang="zh-CN" altLang="en-US" sz="3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182390"/>
            <a:ext cx="7328478" cy="3104610"/>
          </a:xfrm>
          <a:custGeom>
            <a:avLst/>
            <a:gdLst/>
            <a:ahLst/>
            <a:cxnLst/>
            <a:rect l="l" t="t" r="r" b="b"/>
            <a:pathLst>
              <a:path w="7328478" h="3104610">
                <a:moveTo>
                  <a:pt x="0" y="0"/>
                </a:moveTo>
                <a:lnTo>
                  <a:pt x="7328478" y="0"/>
                </a:lnTo>
                <a:lnTo>
                  <a:pt x="7328478" y="3104610"/>
                </a:lnTo>
                <a:lnTo>
                  <a:pt x="0" y="310461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895350"/>
            <a:ext cx="10782300" cy="1292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08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11182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研究背景：存算一体技术</a:t>
            </a:r>
            <a:r>
              <a:rPr lang="zh-CN" altLang="en-US" sz="3600" b="1" dirty="0">
                <a:solidFill>
                  <a:srgbClr val="11182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缓解内存搬运瓶颈</a:t>
            </a:r>
            <a:endParaRPr lang="en-US" sz="7200" b="1" i="1">
              <a:solidFill>
                <a:srgbClr val="2D3880"/>
              </a:solidFill>
              <a:latin typeface="Cormorant Garamond Bold Italics" panose="00000800000000000000"/>
              <a:ea typeface="Cormorant Garamond Bold Italics" panose="00000800000000000000"/>
              <a:cs typeface="Cormorant Garamond Bold Italics" panose="00000800000000000000"/>
              <a:sym typeface="Cormorant Garamond Bold Italics" panose="000008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2539553"/>
            <a:ext cx="5320224" cy="470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80"/>
              </a:lnSpc>
            </a:pPr>
            <a:r>
              <a:rPr lang="en-US" sz="3600">
                <a:solidFill>
                  <a:srgbClr val="2D388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  <a:sym typeface="Glacial Indifference"/>
              </a:rPr>
              <a:t>存算一体（Computing-in-Memory, CIM）技术通过在存储阵列内部或近存</a:t>
            </a:r>
            <a:endParaRPr lang="en-US" sz="3600">
              <a:solidFill>
                <a:srgbClr val="2D3880"/>
              </a:solidFill>
              <a:latin typeface="Segoe Print" panose="02000600000000000000" charset="0"/>
              <a:ea typeface="Segoe Print" panose="02000600000000000000" charset="0"/>
              <a:cs typeface="Segoe Print" panose="02000600000000000000" charset="0"/>
              <a:sym typeface="Glacial Indifference"/>
            </a:endParaRPr>
          </a:p>
          <a:p>
            <a:pPr marL="0" lvl="0" indent="0" algn="l">
              <a:lnSpc>
                <a:spcPts val="4080"/>
              </a:lnSpc>
            </a:pPr>
            <a:r>
              <a:rPr lang="en-US" sz="3600">
                <a:solidFill>
                  <a:srgbClr val="2D388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  <a:sym typeface="Glacial Indifference"/>
              </a:rPr>
              <a:t>储位置完成计算，将“数据搬运”转化为“原位计算”，从体系结构层面缓解</a:t>
            </a:r>
            <a:endParaRPr lang="en-US" sz="3600">
              <a:solidFill>
                <a:srgbClr val="2D3880"/>
              </a:solidFill>
              <a:latin typeface="Segoe Print" panose="02000600000000000000" charset="0"/>
              <a:ea typeface="Segoe Print" panose="02000600000000000000" charset="0"/>
              <a:cs typeface="Segoe Print" panose="02000600000000000000" charset="0"/>
              <a:sym typeface="Glacial Indifference"/>
            </a:endParaRPr>
          </a:p>
          <a:p>
            <a:pPr marL="0" lvl="0" indent="0" algn="l">
              <a:lnSpc>
                <a:spcPts val="4080"/>
              </a:lnSpc>
            </a:pPr>
            <a:r>
              <a:rPr lang="en-US" sz="3600">
                <a:solidFill>
                  <a:srgbClr val="2D388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  <a:sym typeface="Glacial Indifference"/>
              </a:rPr>
              <a:t>冯·诺依曼瓶颈，被认为是突破内存墙、提升能效与吞吐率的重要方向。</a:t>
            </a:r>
            <a:endParaRPr lang="en-US" sz="3600">
              <a:solidFill>
                <a:srgbClr val="2D3880"/>
              </a:solidFill>
              <a:latin typeface="Segoe Print" panose="02000600000000000000" charset="0"/>
              <a:ea typeface="Segoe Print" panose="02000600000000000000" charset="0"/>
              <a:cs typeface="Segoe Print" panose="02000600000000000000" charset="0"/>
              <a:sym typeface="Glacial Indifference"/>
            </a:endParaRPr>
          </a:p>
        </p:txBody>
      </p:sp>
      <p:pic>
        <p:nvPicPr>
          <p:cNvPr id="15" name="图片 14" descr="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575" y="2187575"/>
            <a:ext cx="10058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/>
          <p:cNvSpPr/>
          <p:nvPr/>
        </p:nvSpPr>
        <p:spPr>
          <a:xfrm>
            <a:off x="15631733" y="45720"/>
            <a:ext cx="2598121" cy="2598121"/>
          </a:xfrm>
          <a:custGeom>
            <a:avLst/>
            <a:gdLst/>
            <a:ahLst/>
            <a:cxnLst/>
            <a:rect l="l" t="t" r="r" b="b"/>
            <a:pathLst>
              <a:path w="2598121" h="2598121">
                <a:moveTo>
                  <a:pt x="0" y="0"/>
                </a:moveTo>
                <a:lnTo>
                  <a:pt x="2598122" y="0"/>
                </a:lnTo>
                <a:lnTo>
                  <a:pt x="2598122" y="2598121"/>
                </a:lnTo>
                <a:lnTo>
                  <a:pt x="0" y="259812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flipH="1" flipV="1">
            <a:off x="15631733" y="7688879"/>
            <a:ext cx="2598121" cy="2598121"/>
          </a:xfrm>
          <a:custGeom>
            <a:avLst/>
            <a:gdLst/>
            <a:ahLst/>
            <a:cxnLst/>
            <a:rect l="l" t="t" r="r" b="b"/>
            <a:pathLst>
              <a:path w="2598121" h="2598121">
                <a:moveTo>
                  <a:pt x="2598122" y="2598121"/>
                </a:moveTo>
                <a:lnTo>
                  <a:pt x="0" y="2598121"/>
                </a:lnTo>
                <a:lnTo>
                  <a:pt x="0" y="0"/>
                </a:lnTo>
                <a:lnTo>
                  <a:pt x="2598122" y="0"/>
                </a:lnTo>
                <a:lnTo>
                  <a:pt x="2598122" y="259812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28700" y="895350"/>
            <a:ext cx="7258685" cy="5740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600" b="1" dirty="0">
                <a:solidFill>
                  <a:srgbClr val="11182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国内外研究现状与技术路线选择</a:t>
            </a:r>
            <a:endParaRPr lang="en-US" sz="3600" b="1" dirty="0">
              <a:solidFill>
                <a:srgbClr val="111827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15035" y="2141855"/>
            <a:ext cx="6019165" cy="63696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ts val="4080"/>
              </a:lnSpc>
              <a:buClrTx/>
              <a:buSzTx/>
              <a:buNone/>
            </a:pPr>
            <a:r>
              <a:rPr lang="en-US" altLang="zh-CN" sz="3600" b="1"/>
              <a:t>CIM路线已经分化成熟，但工程落地关注点不同</a:t>
            </a:r>
            <a:r>
              <a:rPr lang="zh-CN" altLang="en-US" sz="3600" b="1"/>
              <a:t>：</a:t>
            </a:r>
            <a:endParaRPr lang="zh-CN" altLang="en-US" sz="3600" b="1"/>
          </a:p>
          <a:p>
            <a:pPr algn="l">
              <a:lnSpc>
                <a:spcPts val="4080"/>
              </a:lnSpc>
              <a:buClrTx/>
              <a:buSzTx/>
              <a:buNone/>
            </a:pPr>
            <a:endParaRPr lang="en-US" altLang="zh-CN" sz="3600"/>
          </a:p>
          <a:p>
            <a:pPr algn="l">
              <a:lnSpc>
                <a:spcPts val="4080"/>
              </a:lnSpc>
              <a:buClrTx/>
              <a:buSzTx/>
              <a:buNone/>
            </a:pPr>
            <a:r>
              <a:rPr lang="en-US" sz="3600">
                <a:solidFill>
                  <a:srgbClr val="2D388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目前国内外已经形成了SRAM，DRAM，RRAM等多路径并行发展的格局。国际上ISAAC、PRIME 等工作早期侧重 RRAM 模拟交叉阵列实现 VMM 加速；国内在 SRAM-CIM 电路与体系结构领域研究活跃，已建立清晰的技术路线图。</a:t>
            </a:r>
            <a:endParaRPr lang="en-US" sz="3600">
              <a:solidFill>
                <a:srgbClr val="2D3880"/>
              </a:solidFill>
              <a:latin typeface="Segoe Print" panose="02000600000000000000" charset="0"/>
              <a:ea typeface="Segoe Print" panose="02000600000000000000" charset="0"/>
              <a:cs typeface="Segoe Print" panose="02000600000000000000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072755" y="2078355"/>
            <a:ext cx="8462645" cy="56927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模拟/新型器件交叉阵列（RRAM/PCM）：天然支持VMM，高并行度；但需ADC/DAC，精度/噪声/校准与可靠性挑战大，系统开销高，工程复现难</a:t>
            </a:r>
            <a:endParaRPr lang="zh-CN" altLang="en-US" sz="2800"/>
          </a:p>
          <a:p>
            <a:pPr indent="0">
              <a:buFont typeface="Arial" panose="020B0604020202020204" pitchFamily="34" charset="0"/>
              <a:buNone/>
            </a:pPr>
            <a:endParaRPr lang="zh-CN" altLang="en-US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通用存储近存储/存内计算（DRAM/Cache）：利用现有存储结构实现位运算/位串行计算，强调“把计算靠近数据”，但对高吞吐多比特MAC的映射仍需复杂数据流组织。</a:t>
            </a:r>
            <a:endParaRPr lang="zh-CN" altLang="en-US" sz="2800"/>
          </a:p>
          <a:p>
            <a:pPr indent="0">
              <a:buFont typeface="Arial" panose="020B0604020202020204" pitchFamily="34" charset="0"/>
              <a:buNone/>
            </a:pPr>
            <a:endParaRPr lang="zh-CN" altLang="en-US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SRAM-CIM（标准CMOS）：工艺成熟、速度高、与数字设计流程兼容；研究重点转向多比特/符号数MAC与降低外围开销（ADC-less/时间域/数字逻辑），并逐步走向可重构数字CIM处理器。</a:t>
            </a:r>
            <a:endParaRPr lang="zh-CN" altLang="en-US"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/>
          <p:cNvSpPr/>
          <p:nvPr/>
        </p:nvSpPr>
        <p:spPr>
          <a:xfrm>
            <a:off x="15631733" y="45720"/>
            <a:ext cx="2598121" cy="2598121"/>
          </a:xfrm>
          <a:custGeom>
            <a:avLst/>
            <a:gdLst/>
            <a:ahLst/>
            <a:cxnLst/>
            <a:rect l="l" t="t" r="r" b="b"/>
            <a:pathLst>
              <a:path w="2598121" h="2598121">
                <a:moveTo>
                  <a:pt x="0" y="0"/>
                </a:moveTo>
                <a:lnTo>
                  <a:pt x="2598122" y="0"/>
                </a:lnTo>
                <a:lnTo>
                  <a:pt x="2598122" y="2598121"/>
                </a:lnTo>
                <a:lnTo>
                  <a:pt x="0" y="259812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flipH="1" flipV="1">
            <a:off x="15631733" y="7688879"/>
            <a:ext cx="2598121" cy="2598121"/>
          </a:xfrm>
          <a:custGeom>
            <a:avLst/>
            <a:gdLst/>
            <a:ahLst/>
            <a:cxnLst/>
            <a:rect l="l" t="t" r="r" b="b"/>
            <a:pathLst>
              <a:path w="2598121" h="2598121">
                <a:moveTo>
                  <a:pt x="2598122" y="2598121"/>
                </a:moveTo>
                <a:lnTo>
                  <a:pt x="0" y="2598121"/>
                </a:lnTo>
                <a:lnTo>
                  <a:pt x="0" y="0"/>
                </a:lnTo>
                <a:lnTo>
                  <a:pt x="2598122" y="0"/>
                </a:lnTo>
                <a:lnTo>
                  <a:pt x="2598122" y="259812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28700" y="895350"/>
            <a:ext cx="7258685" cy="5740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600" b="1" dirty="0">
                <a:solidFill>
                  <a:srgbClr val="11182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国内外研究现状与技术路线选择</a:t>
            </a:r>
            <a:endParaRPr lang="en-US" sz="3600" b="1" dirty="0">
              <a:solidFill>
                <a:srgbClr val="111827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28700" y="2058670"/>
            <a:ext cx="85286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本课题选择数字SRAM-CIM + Signed-INT8量化 + FPGA验证的方式完成相关设计。</a:t>
            </a:r>
            <a:endParaRPr lang="en-US" altLang="zh-CN" sz="3600" b="1"/>
          </a:p>
        </p:txBody>
      </p:sp>
      <p:sp>
        <p:nvSpPr>
          <p:cNvPr id="4" name="文本框 3"/>
          <p:cNvSpPr txBox="1"/>
          <p:nvPr/>
        </p:nvSpPr>
        <p:spPr>
          <a:xfrm>
            <a:off x="1028700" y="3851275"/>
            <a:ext cx="829500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/>
              <a:t>工程可综合与可验证：数字SRAM-CIM适合RTL描述与FPGA复现，能形成“架构-RTL-验证-评估”闭环，满足工程设计类毕设交付要求。</a:t>
            </a:r>
            <a:endParaRPr lang="zh-CN" altLang="en-US" sz="2400"/>
          </a:p>
          <a:p>
            <a:pPr indent="0">
              <a:buFont typeface="Arial" panose="020B0604020202020204" pitchFamily="34" charset="0"/>
              <a:buNone/>
            </a:pPr>
            <a:endParaRPr lang="zh-CN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/>
              <a:t>与实际推理精度匹配：工业推理普遍采用INT8整数算术量化，scale/zero-point（或对称signed）提供明确的硬件实现口径，适合做可复现对齐验证。</a:t>
            </a:r>
            <a:endParaRPr lang="zh-CN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/>
              <a:t>已有可行性依据：多比特/8b-MAC、Signed-INT8及ADC-less方向已有芯片级宏单元/数字CIM处理器工作证明可行，但体系结构级、可复现的RTL/FPGA验证范式仍值得系统化补齐。</a:t>
            </a:r>
            <a:endParaRPr lang="zh-CN" altLang="en-US" sz="2400"/>
          </a:p>
        </p:txBody>
      </p:sp>
      <p:sp>
        <p:nvSpPr>
          <p:cNvPr id="5" name="文本框 4"/>
          <p:cNvSpPr txBox="1"/>
          <p:nvPr/>
        </p:nvSpPr>
        <p:spPr>
          <a:xfrm>
            <a:off x="1028700" y="8665210"/>
            <a:ext cx="1380172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课题目标是：设计一个支持Signed-INT8的数字SRAM-CIM阵列原型，给出位宽/累加/量化路径与FPGA资源-频率-吞吐的可复现实证结果，为工程落地提供架构与验证基线。</a:t>
            </a:r>
            <a:endParaRPr lang="zh-CN" altLang="en-US" sz="3200" b="1"/>
          </a:p>
        </p:txBody>
      </p:sp>
      <p:pic>
        <p:nvPicPr>
          <p:cNvPr id="6" name="图片 5" descr="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0340" y="2645410"/>
            <a:ext cx="9159875" cy="49961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6331905" cy="10287000"/>
            <a:chOff x="0" y="0"/>
            <a:chExt cx="166766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67662" cy="2709333"/>
            </a:xfrm>
            <a:custGeom>
              <a:avLst/>
              <a:gdLst/>
              <a:ahLst/>
              <a:cxnLst/>
              <a:rect l="l" t="t" r="r" b="b"/>
              <a:pathLst>
                <a:path w="1667662" h="2709333">
                  <a:moveTo>
                    <a:pt x="0" y="0"/>
                  </a:moveTo>
                  <a:lnTo>
                    <a:pt x="1667662" y="0"/>
                  </a:lnTo>
                  <a:lnTo>
                    <a:pt x="166766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D9D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667662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88340" y="666115"/>
            <a:ext cx="4955710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</a:pPr>
            <a:r>
              <a:rPr lang="zh-CN" altLang="en-US" sz="3600" b="1">
                <a:solidFill>
                  <a:srgbClr val="FFFFFF"/>
                </a:solidFill>
                <a:latin typeface="Cormorant Garamond Bold Italics" panose="00000800000000000000"/>
                <a:ea typeface="Cormorant Garamond Bold Italics" panose="00000800000000000000"/>
                <a:cs typeface="Cormorant Garamond Bold Italics" panose="00000800000000000000"/>
                <a:sym typeface="Cormorant Garamond Bold Italics" panose="00000800000000000000"/>
              </a:rPr>
              <a:t>研究目标和可量化指标</a:t>
            </a:r>
            <a:endParaRPr lang="zh-CN" altLang="en-US" sz="3600" b="1">
              <a:solidFill>
                <a:srgbClr val="FFFFFF"/>
              </a:solidFill>
              <a:latin typeface="Cormorant Garamond Bold Italics" panose="00000800000000000000"/>
              <a:ea typeface="Cormorant Garamond Bold Italics" panose="00000800000000000000"/>
              <a:cs typeface="Cormorant Garamond Bold Italics" panose="00000800000000000000"/>
              <a:sym typeface="Cormorant Garamond Bold Italics" panose="0000080000000000000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81050" y="1819910"/>
            <a:ext cx="4862830" cy="82169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总体设计目标：</a:t>
            </a:r>
            <a:endParaRPr lang="zh-CN" altLang="en-US" sz="2400"/>
          </a:p>
          <a:p>
            <a:endParaRPr lang="zh-CN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/>
              <a:t>构建端到端加速器：设计并实现基于数字 SRAM-CIM 架构的卷积神经网络加速器，支持 YOLO/SSD 等典型目标检测算法。</a:t>
            </a:r>
            <a:endParaRPr lang="zh-CN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/>
              <a:t>实现高能效计算：利用存算一体（CIM）技术减少权重数据搬运，结合 Signed-INT8 量化降低计算与存储开销，突破传统架构的能效瓶颈。</a:t>
            </a:r>
            <a:endParaRPr lang="zh-CN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/>
              <a:t>完成全流程验证：搭建从 Python 软件模型到 FPGA 硬件原型的完整验证链路，实现软硬件结果的比特级对齐（Bit-exact）。</a:t>
            </a:r>
            <a:endParaRPr lang="zh-CN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/>
              <a:t>具备可配置性：设计参数化的阵列架构（如阵列大小、并行度可调），以适应不同边缘设备的资源约束。</a:t>
            </a:r>
            <a:endParaRPr lang="zh-CN" altLang="en-US" sz="2400"/>
          </a:p>
        </p:txBody>
      </p:sp>
      <p:sp>
        <p:nvSpPr>
          <p:cNvPr id="16" name="文本框 15"/>
          <p:cNvSpPr txBox="1"/>
          <p:nvPr/>
        </p:nvSpPr>
        <p:spPr>
          <a:xfrm>
            <a:off x="7001510" y="767080"/>
            <a:ext cx="9000490" cy="2953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预计用来衡量性能的指标有：工作频率</a:t>
            </a:r>
            <a:r>
              <a:rPr lang="en-US" altLang="zh-CN" sz="2800"/>
              <a:t>(Fmax), </a:t>
            </a:r>
            <a:r>
              <a:rPr lang="zh-CN" altLang="en-US" sz="2800"/>
              <a:t>峰值吞吐率(Peak Throughput)，资源占用 (Resource Utilization)，能效比 (Energy Efficiency)</a:t>
            </a:r>
            <a:endParaRPr lang="zh-CN" altLang="en-US" sz="2800"/>
          </a:p>
          <a:p>
            <a:endParaRPr lang="zh-CN" altLang="en-US" sz="2800"/>
          </a:p>
          <a:p>
            <a:r>
              <a:rPr lang="zh-CN" altLang="en-US" sz="2800"/>
              <a:t>预计用来衡量功能的指标有：算子支持度（</a:t>
            </a:r>
            <a:r>
              <a:rPr lang="en-US" altLang="zh-CN" sz="2800"/>
              <a:t>conv2d</a:t>
            </a:r>
            <a:r>
              <a:rPr lang="zh-CN" altLang="en-US" sz="2800"/>
              <a:t>， </a:t>
            </a:r>
            <a:r>
              <a:rPr lang="en-US" altLang="zh-CN" sz="2800"/>
              <a:t>relu</a:t>
            </a:r>
            <a:r>
              <a:rPr lang="zh-CN" altLang="en-US" sz="2800"/>
              <a:t>等核心算子），数据精度，模型部署结果。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17" name="图片 16" descr="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3200" y="3720465"/>
            <a:ext cx="8051165" cy="60382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 flipV="1">
            <a:off x="0" y="23130"/>
            <a:ext cx="5372897" cy="2276154"/>
          </a:xfrm>
          <a:custGeom>
            <a:avLst/>
            <a:gdLst/>
            <a:ahLst/>
            <a:cxnLst/>
            <a:rect l="l" t="t" r="r" b="b"/>
            <a:pathLst>
              <a:path w="5372897" h="2276154">
                <a:moveTo>
                  <a:pt x="0" y="2276155"/>
                </a:moveTo>
                <a:lnTo>
                  <a:pt x="5372897" y="2276155"/>
                </a:lnTo>
                <a:lnTo>
                  <a:pt x="5372897" y="0"/>
                </a:lnTo>
                <a:lnTo>
                  <a:pt x="0" y="0"/>
                </a:lnTo>
                <a:lnTo>
                  <a:pt x="0" y="2276155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 flipH="1" flipV="1">
            <a:off x="12915103" y="23731"/>
            <a:ext cx="5372897" cy="2276154"/>
          </a:xfrm>
          <a:custGeom>
            <a:avLst/>
            <a:gdLst/>
            <a:ahLst/>
            <a:cxnLst/>
            <a:rect l="l" t="t" r="r" b="b"/>
            <a:pathLst>
              <a:path w="5372897" h="2276154">
                <a:moveTo>
                  <a:pt x="5372897" y="2276155"/>
                </a:moveTo>
                <a:lnTo>
                  <a:pt x="0" y="2276155"/>
                </a:lnTo>
                <a:lnTo>
                  <a:pt x="0" y="0"/>
                </a:lnTo>
                <a:lnTo>
                  <a:pt x="5372897" y="0"/>
                </a:lnTo>
                <a:lnTo>
                  <a:pt x="5372897" y="2276155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4064725" y="895350"/>
            <a:ext cx="10196150" cy="1292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zh-CN" altLang="en-US" sz="4000">
                <a:solidFill>
                  <a:srgbClr val="2D3880"/>
                </a:solidFill>
                <a:latin typeface="Cormorant Garamond Bold Italics" panose="00000800000000000000"/>
                <a:ea typeface="Cormorant Garamond Bold Italics" panose="00000800000000000000"/>
                <a:cs typeface="Cormorant Garamond Bold Italics" panose="00000800000000000000"/>
                <a:sym typeface="Cormorant Garamond Bold Italics" panose="00000800000000000000"/>
              </a:rPr>
              <a:t>总体架构与数据流设计</a:t>
            </a:r>
            <a:endParaRPr lang="zh-CN" altLang="en-US" sz="4000">
              <a:solidFill>
                <a:srgbClr val="2D3880"/>
              </a:solidFill>
              <a:latin typeface="Cormorant Garamond Bold Italics" panose="00000800000000000000"/>
              <a:ea typeface="Cormorant Garamond Bold Italics" panose="00000800000000000000"/>
              <a:cs typeface="Cormorant Garamond Bold Italics" panose="00000800000000000000"/>
              <a:sym typeface="Cormorant Garamond Bold Italics" panose="00000800000000000000"/>
            </a:endParaRP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8150" y="2924810"/>
            <a:ext cx="9826625" cy="6437630"/>
          </a:xfrm>
          <a:prstGeom prst="rect">
            <a:avLst/>
          </a:prstGeom>
        </p:spPr>
      </p:pic>
      <p:sp>
        <p:nvSpPr>
          <p:cNvPr id="49" name="文本框 48"/>
          <p:cNvSpPr txBox="1"/>
          <p:nvPr/>
        </p:nvSpPr>
        <p:spPr>
          <a:xfrm>
            <a:off x="753745" y="2771775"/>
            <a:ext cx="6220460" cy="71088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数据流架构 (Dataflow Architecture)：</a:t>
            </a:r>
            <a:endParaRPr lang="zh-CN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/>
              <a:t>采用 Weight Stationary (权重驻留) 数据流，权重预加载至 SRAM 阵列，最大化减少片外访存；</a:t>
            </a:r>
            <a:endParaRPr lang="zh-CN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/>
              <a:t>Input Broadcast (输入广播)：激活数据通过字线广播，结合位串行 (Bit-serial) 机制实现并行计算。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核心计算单元 (Digital CIM Core)：</a:t>
            </a:r>
            <a:endParaRPr lang="zh-CN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/>
              <a:t>基于 Signed-INT8 量化，支持有符号数乘加；</a:t>
            </a:r>
            <a:endParaRPr lang="zh-CN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/>
              <a:t>无模拟外设 (ADC-less)：利用数字逻辑实现部分积生成与移位累加，规避模拟噪声，易于 FPGA 综合。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系统级互联 (System Integration)：</a:t>
            </a:r>
            <a:endParaRPr lang="zh-CN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/>
              <a:t>分层累加：Tile 内局部累加 + 跨 Tile 全局累加，平衡时序与资源；</a:t>
            </a:r>
            <a:endParaRPr lang="zh-CN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/>
              <a:t>可配置性：支持阵列维度 ($M \times N$) 与 Tile 数量参数化配置。</a:t>
            </a:r>
            <a:endParaRPr lang="zh-CN" altLang="en-US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3809790" y="5868318"/>
            <a:ext cx="4478210" cy="4478210"/>
          </a:xfrm>
          <a:custGeom>
            <a:avLst/>
            <a:gdLst/>
            <a:ahLst/>
            <a:cxnLst/>
            <a:rect l="l" t="t" r="r" b="b"/>
            <a:pathLst>
              <a:path w="4478210" h="4478210">
                <a:moveTo>
                  <a:pt x="4478210" y="0"/>
                </a:moveTo>
                <a:lnTo>
                  <a:pt x="0" y="0"/>
                </a:lnTo>
                <a:lnTo>
                  <a:pt x="0" y="4478210"/>
                </a:lnTo>
                <a:lnTo>
                  <a:pt x="4478210" y="4478210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4478210" cy="3525572"/>
          </a:xfrm>
          <a:custGeom>
            <a:avLst/>
            <a:gdLst/>
            <a:ahLst/>
            <a:cxnLst/>
            <a:rect l="l" t="t" r="r" b="b"/>
            <a:pathLst>
              <a:path w="4478210" h="3525572">
                <a:moveTo>
                  <a:pt x="0" y="0"/>
                </a:moveTo>
                <a:lnTo>
                  <a:pt x="4478210" y="0"/>
                </a:lnTo>
                <a:lnTo>
                  <a:pt x="4478210" y="3525572"/>
                </a:lnTo>
                <a:lnTo>
                  <a:pt x="0" y="35255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780790" y="541655"/>
            <a:ext cx="12310110" cy="1292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altLang="zh-CN" sz="4000" b="1">
                <a:solidFill>
                  <a:srgbClr val="2D3880"/>
                </a:solidFill>
                <a:latin typeface="Microsoft JhengHei UI Light" panose="020B0304030504040204" charset="-120"/>
                <a:ea typeface="Microsoft JhengHei UI Light" panose="020B0304030504040204" charset="-120"/>
                <a:cs typeface="Cormorant Garamond Bold" panose="00000800000000000000"/>
                <a:sym typeface="Cormorant Garamond Bold" panose="00000800000000000000"/>
              </a:rPr>
              <a:t>Signed-Int8</a:t>
            </a:r>
            <a:r>
              <a:rPr lang="zh-CN" altLang="en-US" sz="4000" b="1">
                <a:solidFill>
                  <a:srgbClr val="2D3880"/>
                </a:solidFill>
                <a:latin typeface="Microsoft JhengHei UI Light" panose="020B0304030504040204" charset="-120"/>
                <a:ea typeface="Microsoft JhengHei UI Light" panose="020B0304030504040204" charset="-120"/>
                <a:cs typeface="Cormorant Garamond Bold" panose="00000800000000000000"/>
                <a:sym typeface="Cormorant Garamond Bold" panose="00000800000000000000"/>
              </a:rPr>
              <a:t> CIM</a:t>
            </a:r>
            <a:r>
              <a:rPr lang="zh-CN" altLang="en-US" sz="4000" b="1">
                <a:solidFill>
                  <a:srgbClr val="2D3880"/>
                </a:solidFill>
                <a:latin typeface="Cormorant Garamond Bold" panose="00000800000000000000"/>
                <a:ea typeface="Cormorant Garamond Bold" panose="00000800000000000000"/>
                <a:cs typeface="Cormorant Garamond Bold" panose="00000800000000000000"/>
                <a:sym typeface="Cormorant Garamond Bold" panose="00000800000000000000"/>
              </a:rPr>
              <a:t> 基本单元微架构设计（简单的构想</a:t>
            </a:r>
            <a:r>
              <a:rPr lang="zh-CN" altLang="en-US" sz="4000" b="1">
                <a:solidFill>
                  <a:srgbClr val="2D3880"/>
                </a:solidFill>
                <a:latin typeface="Cormorant Garamond Bold" panose="00000800000000000000"/>
                <a:ea typeface="Cormorant Garamond Bold" panose="00000800000000000000"/>
                <a:cs typeface="Cormorant Garamond Bold" panose="00000800000000000000"/>
                <a:sym typeface="Cormorant Garamond Bold" panose="00000800000000000000"/>
              </a:rPr>
              <a:t>）</a:t>
            </a:r>
            <a:endParaRPr lang="zh-CN" altLang="en-US" sz="4000" b="1">
              <a:solidFill>
                <a:srgbClr val="2D3880"/>
              </a:solidFill>
              <a:latin typeface="Cormorant Garamond Bold" panose="00000800000000000000"/>
              <a:ea typeface="Cormorant Garamond Bold" panose="00000800000000000000"/>
              <a:cs typeface="Cormorant Garamond Bold" panose="00000800000000000000"/>
              <a:sym typeface="Cormorant Garamond Bold" panose="0000080000000000000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5930" y="2006600"/>
            <a:ext cx="13094970" cy="71431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14587794" y="64770"/>
            <a:ext cx="3700206" cy="3803950"/>
          </a:xfrm>
          <a:custGeom>
            <a:avLst/>
            <a:gdLst/>
            <a:ahLst/>
            <a:cxnLst/>
            <a:rect l="l" t="t" r="r" b="b"/>
            <a:pathLst>
              <a:path w="3700206" h="3803950">
                <a:moveTo>
                  <a:pt x="0" y="0"/>
                </a:moveTo>
                <a:lnTo>
                  <a:pt x="3700206" y="0"/>
                </a:lnTo>
                <a:lnTo>
                  <a:pt x="3700206" y="3803950"/>
                </a:lnTo>
                <a:lnTo>
                  <a:pt x="0" y="380395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895350"/>
            <a:ext cx="7591425" cy="25850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080"/>
              </a:lnSpc>
              <a:spcBef>
                <a:spcPct val="0"/>
              </a:spcBef>
            </a:pPr>
            <a:r>
              <a:rPr lang="en-US" sz="3600" b="1">
                <a:solidFill>
                  <a:srgbClr val="2D3880"/>
                </a:solidFill>
                <a:latin typeface="Microsoft JhengHei Light" panose="020B0304030504040204" charset="-120"/>
                <a:ea typeface="Microsoft JhengHei Light" panose="020B0304030504040204" charset="-120"/>
                <a:cs typeface="Cormorant Garamond Bold Italics" panose="00000800000000000000"/>
                <a:sym typeface="+mn-ea"/>
              </a:rPr>
              <a:t>psum</a:t>
            </a:r>
            <a:r>
              <a:rPr lang="en-US" sz="3600" b="1">
                <a:solidFill>
                  <a:srgbClr val="2D3880"/>
                </a:solidFill>
                <a:latin typeface="Cormorant Garamond Bold Italics" panose="00000800000000000000"/>
                <a:ea typeface="Cormorant Garamond Bold Italics" panose="00000800000000000000"/>
                <a:cs typeface="Cormorant Garamond Bold Italics" panose="00000800000000000000"/>
                <a:sym typeface="+mn-ea"/>
              </a:rPr>
              <a:t> 位宽规划、舍入/饱和与重定标</a:t>
            </a:r>
            <a:endParaRPr lang="en-US" sz="3600" b="1" i="1">
              <a:solidFill>
                <a:srgbClr val="2D3880"/>
              </a:solidFill>
              <a:latin typeface="Cormorant Garamond Bold Italics" panose="00000800000000000000"/>
              <a:ea typeface="Cormorant Garamond Bold Italics" panose="00000800000000000000"/>
              <a:cs typeface="Cormorant Garamond Bold Italics" panose="00000800000000000000"/>
            </a:endParaRPr>
          </a:p>
          <a:p>
            <a:pPr marL="0" lvl="0" indent="0" algn="l">
              <a:lnSpc>
                <a:spcPts val="10080"/>
              </a:lnSpc>
              <a:spcBef>
                <a:spcPct val="0"/>
              </a:spcBef>
            </a:pPr>
            <a:endParaRPr lang="en-US" sz="3600" b="1" i="1">
              <a:solidFill>
                <a:srgbClr val="2D3880"/>
              </a:solidFill>
              <a:latin typeface="Cormorant Garamond Bold Italics" panose="00000800000000000000"/>
              <a:ea typeface="Cormorant Garamond Bold Italics" panose="00000800000000000000"/>
              <a:cs typeface="Cormorant Garamond Bold Italics" panose="00000800000000000000"/>
              <a:sym typeface="Cormorant Garamond Bold Italics" panose="0000080000000000000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700" y="2623820"/>
            <a:ext cx="13313410" cy="66573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flipH="1">
            <a:off x="13809790" y="0"/>
            <a:ext cx="4478210" cy="3525572"/>
          </a:xfrm>
          <a:custGeom>
            <a:avLst/>
            <a:gdLst/>
            <a:ahLst/>
            <a:cxnLst/>
            <a:rect l="l" t="t" r="r" b="b"/>
            <a:pathLst>
              <a:path w="4478210" h="3525572">
                <a:moveTo>
                  <a:pt x="4478210" y="0"/>
                </a:moveTo>
                <a:lnTo>
                  <a:pt x="0" y="0"/>
                </a:lnTo>
                <a:lnTo>
                  <a:pt x="0" y="3525572"/>
                </a:lnTo>
                <a:lnTo>
                  <a:pt x="4478210" y="3525572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577850"/>
            <a:ext cx="6871335" cy="1292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080"/>
              </a:lnSpc>
              <a:spcBef>
                <a:spcPct val="0"/>
              </a:spcBef>
            </a:pPr>
            <a:r>
              <a:rPr lang="zh-CN" altLang="en-US" sz="4000" b="1">
                <a:solidFill>
                  <a:srgbClr val="2D3880"/>
                </a:solidFill>
                <a:latin typeface="Cormorant Garamond Bold" panose="00000800000000000000"/>
                <a:ea typeface="Cormorant Garamond Bold" panose="00000800000000000000"/>
                <a:cs typeface="Cormorant Garamond Bold" panose="00000800000000000000"/>
                <a:sym typeface="Cormorant Garamond Bold" panose="00000800000000000000"/>
              </a:rPr>
              <a:t>验证与评估方法</a:t>
            </a:r>
            <a:endParaRPr lang="zh-CN" altLang="en-US" sz="4000" b="1">
              <a:solidFill>
                <a:srgbClr val="2D3880"/>
              </a:solidFill>
              <a:latin typeface="Cormorant Garamond Bold" panose="00000800000000000000"/>
              <a:ea typeface="Cormorant Garamond Bold" panose="00000800000000000000"/>
              <a:cs typeface="Cormorant Garamond Bold" panose="00000800000000000000"/>
              <a:sym typeface="Cormorant Garamond Bold" panose="0000080000000000000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35" y="2306320"/>
            <a:ext cx="12441555" cy="7257415"/>
          </a:xfrm>
          <a:prstGeom prst="rect">
            <a:avLst/>
          </a:prstGeom>
        </p:spPr>
      </p:pic>
      <p:sp>
        <p:nvSpPr>
          <p:cNvPr id="19" name="Text 17"/>
          <p:cNvSpPr/>
          <p:nvPr/>
        </p:nvSpPr>
        <p:spPr>
          <a:xfrm>
            <a:off x="12668885" y="3885565"/>
            <a:ext cx="5394960" cy="1645920"/>
          </a:xfrm>
          <a:prstGeom prst="rect">
            <a:avLst/>
          </a:prstGeom>
          <a:noFill/>
        </p:spPr>
        <p:txBody>
          <a:bodyPr wrap="square" rtlCol="0" anchor="t"/>
          <a:p>
            <a:pPr indent="0">
              <a:spcAft>
                <a:spcPts val="490"/>
              </a:spcAft>
              <a:buSzPct val="100000"/>
              <a:buNone/>
            </a:pPr>
            <a:r>
              <a:rPr lang="zh-CN" altLang="en-US" sz="3200" dirty="0">
                <a:solidFill>
                  <a:srgbClr val="11182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评估指标：</a:t>
            </a:r>
            <a:endParaRPr lang="zh-CN" altLang="en-US" sz="3200" dirty="0">
              <a:solidFill>
                <a:srgbClr val="111827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indent="0">
              <a:spcAft>
                <a:spcPts val="490"/>
              </a:spcAft>
              <a:buSzPct val="100000"/>
              <a:buNone/>
            </a:pPr>
            <a:endParaRPr lang="en-US" sz="3200" dirty="0">
              <a:solidFill>
                <a:srgbClr val="111827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95580" indent="-195580">
              <a:spcAft>
                <a:spcPts val="490"/>
              </a:spcAft>
              <a:buSzPct val="100000"/>
              <a:buChar char="•"/>
            </a:pPr>
            <a:r>
              <a:rPr lang="en-US" sz="3200" dirty="0">
                <a:solidFill>
                  <a:srgbClr val="11182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资源：LUT / FF / BRAM / DSP</a:t>
            </a:r>
            <a:endParaRPr lang="en-US" sz="3200" dirty="0"/>
          </a:p>
          <a:p>
            <a:pPr marL="195580" indent="-195580">
              <a:spcAft>
                <a:spcPts val="490"/>
              </a:spcAft>
              <a:buSzPct val="100000"/>
              <a:buChar char="•"/>
            </a:pPr>
            <a:r>
              <a:rPr lang="en-US" sz="3200" dirty="0">
                <a:solidFill>
                  <a:srgbClr val="11182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时序：Fmax 与关键路径分析</a:t>
            </a:r>
            <a:endParaRPr lang="en-US" sz="3200" dirty="0"/>
          </a:p>
          <a:p>
            <a:pPr marL="195580" indent="-195580">
              <a:spcAft>
                <a:spcPts val="490"/>
              </a:spcAft>
              <a:buSzPct val="100000"/>
              <a:buChar char="•"/>
            </a:pPr>
            <a:r>
              <a:rPr lang="en-US" sz="3200" dirty="0">
                <a:solidFill>
                  <a:srgbClr val="11182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性能：cycles/op、吞吐估算、端到端延迟</a:t>
            </a:r>
            <a:endParaRPr lang="en-US" sz="3200" dirty="0"/>
          </a:p>
          <a:p>
            <a:pPr marL="195580" indent="-195580">
              <a:spcAft>
                <a:spcPts val="490"/>
              </a:spcAft>
              <a:buSzPct val="100000"/>
              <a:buChar char="•"/>
            </a:pPr>
            <a:r>
              <a:rPr lang="en-US" sz="3200" dirty="0">
                <a:solidFill>
                  <a:srgbClr val="11182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可复现：脚本化向量生成与结果对比</a:t>
            </a:r>
            <a:endParaRPr 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900" y="679450"/>
            <a:ext cx="17856200" cy="8928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/>
          <p:cNvSpPr txBox="1"/>
          <p:nvPr/>
        </p:nvSpPr>
        <p:spPr>
          <a:xfrm>
            <a:off x="4190438" y="895350"/>
            <a:ext cx="9907124" cy="830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6D28D9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预期成果与交付物</a:t>
            </a:r>
            <a:endParaRPr lang="en-US" sz="5400" b="1">
              <a:solidFill>
                <a:srgbClr val="2D3880"/>
              </a:solidFill>
              <a:latin typeface="Cormorant Garamond Bold" panose="00000800000000000000"/>
              <a:ea typeface="Cormorant Garamond Bold" panose="00000800000000000000"/>
              <a:cs typeface="Cormorant Garamond Bold" panose="00000800000000000000"/>
              <a:sym typeface="Cormorant Garamond Bold" panose="0000080000000000000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306320" y="3410585"/>
            <a:ext cx="13675995" cy="3466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23520" indent="-223520" algn="ctr">
              <a:spcAft>
                <a:spcPts val="560"/>
              </a:spcAft>
              <a:buSzPct val="100000"/>
              <a:buChar char="•"/>
            </a:pPr>
            <a:r>
              <a:rPr lang="en-US" sz="4000" dirty="0">
                <a:solidFill>
                  <a:srgbClr val="11182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RTL代码</a:t>
            </a:r>
            <a:r>
              <a:rPr lang="zh-CN" altLang="en-US" sz="4000" dirty="0">
                <a:solidFill>
                  <a:srgbClr val="111827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；</a:t>
            </a:r>
            <a:endParaRPr lang="en-US" sz="4000" dirty="0"/>
          </a:p>
          <a:p>
            <a:pPr marL="223520" indent="-223520" algn="ctr">
              <a:spcAft>
                <a:spcPts val="560"/>
              </a:spcAft>
              <a:buSzPct val="100000"/>
              <a:buChar char="•"/>
            </a:pPr>
            <a:r>
              <a:rPr lang="en-US" sz="4000" dirty="0">
                <a:solidFill>
                  <a:srgbClr val="11182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系统化验证</a:t>
            </a:r>
            <a:r>
              <a:rPr lang="zh-CN" altLang="en-US" sz="4000" dirty="0">
                <a:solidFill>
                  <a:srgbClr val="11182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脚本</a:t>
            </a:r>
            <a:r>
              <a:rPr lang="zh-CN" altLang="en-US" sz="4000" dirty="0">
                <a:solidFill>
                  <a:srgbClr val="111827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；</a:t>
            </a:r>
            <a:endParaRPr lang="zh-CN" altLang="en-US" sz="4000" dirty="0">
              <a:solidFill>
                <a:srgbClr val="111827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  <a:p>
            <a:pPr marL="223520" indent="-223520" algn="ctr">
              <a:spcAft>
                <a:spcPts val="560"/>
              </a:spcAft>
              <a:buSzPct val="100000"/>
              <a:buChar char="•"/>
            </a:pPr>
            <a:r>
              <a:rPr lang="en-US" sz="4000" dirty="0">
                <a:solidFill>
                  <a:srgbClr val="11182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FPGA工程</a:t>
            </a:r>
            <a:r>
              <a:rPr lang="zh-CN" altLang="en-US" sz="4000" dirty="0">
                <a:solidFill>
                  <a:srgbClr val="11182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；</a:t>
            </a:r>
            <a:endParaRPr lang="zh-CN" altLang="en-US" sz="4000" dirty="0">
              <a:solidFill>
                <a:srgbClr val="111827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223520" indent="-223520" algn="ctr">
              <a:spcAft>
                <a:spcPts val="560"/>
              </a:spcAft>
              <a:buSzPct val="100000"/>
              <a:buChar char="•"/>
            </a:pPr>
            <a:r>
              <a:rPr lang="en-US" sz="4000" dirty="0">
                <a:solidFill>
                  <a:srgbClr val="11182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性能评估报告</a:t>
            </a:r>
            <a:r>
              <a:rPr lang="zh-CN" altLang="en-US" sz="4000" dirty="0">
                <a:solidFill>
                  <a:srgbClr val="111827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。</a:t>
            </a:r>
            <a:endParaRPr lang="zh-CN" altLang="en-US" sz="3200" dirty="0">
              <a:solidFill>
                <a:srgbClr val="111827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indent="0">
              <a:spcAft>
                <a:spcPts val="560"/>
              </a:spcAft>
              <a:buSzPct val="100000"/>
              <a:buNone/>
            </a:pPr>
            <a:endParaRPr lang="en-US" dirty="0"/>
          </a:p>
          <a:p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3066628" cy="10287000"/>
          </a:xfrm>
          <a:custGeom>
            <a:avLst/>
            <a:gdLst/>
            <a:ahLst/>
            <a:cxnLst/>
            <a:rect l="l" t="t" r="r" b="b"/>
            <a:pathLst>
              <a:path w="13066628" h="10287000">
                <a:moveTo>
                  <a:pt x="0" y="0"/>
                </a:moveTo>
                <a:lnTo>
                  <a:pt x="13066628" y="0"/>
                </a:lnTo>
                <a:lnTo>
                  <a:pt x="1306662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0" y="5419727"/>
            <a:ext cx="8115300" cy="2066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10"/>
              </a:lnSpc>
            </a:pPr>
            <a:r>
              <a:rPr lang="en-US" sz="12005" b="1" i="1">
                <a:solidFill>
                  <a:srgbClr val="2D3880"/>
                </a:solidFill>
                <a:latin typeface="Cormorant Garamond Bold Italics" panose="00000800000000000000"/>
                <a:ea typeface="Cormorant Garamond Bold Italics" panose="00000800000000000000"/>
                <a:cs typeface="Cormorant Garamond Bold Italics" panose="00000800000000000000"/>
                <a:sym typeface="Cormorant Garamond Bold Italics" panose="00000800000000000000"/>
              </a:rPr>
              <a:t>Thank You</a:t>
            </a:r>
            <a:endParaRPr lang="en-US" sz="12005" b="1" i="1">
              <a:solidFill>
                <a:srgbClr val="2D3880"/>
              </a:solidFill>
              <a:latin typeface="Cormorant Garamond Bold Italics" panose="00000800000000000000"/>
              <a:ea typeface="Cormorant Garamond Bold Italics" panose="00000800000000000000"/>
              <a:cs typeface="Cormorant Garamond Bold Italics" panose="00000800000000000000"/>
              <a:sym typeface="Cormorant Garamond Bold Italics" panose="000008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144000" y="7419781"/>
            <a:ext cx="8115300" cy="563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95"/>
              </a:lnSpc>
              <a:spcBef>
                <a:spcPct val="0"/>
              </a:spcBef>
            </a:pPr>
            <a:r>
              <a:rPr lang="en-US" sz="3140">
                <a:solidFill>
                  <a:srgbClr val="2D388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  <a:sym typeface="Glacial Indifference"/>
              </a:rPr>
              <a:t>13 jan, 2026</a:t>
            </a:r>
            <a:endParaRPr lang="en-US" sz="3140">
              <a:solidFill>
                <a:srgbClr val="2D3880"/>
              </a:solidFill>
              <a:latin typeface="Segoe Print" panose="02000600000000000000" charset="0"/>
              <a:ea typeface="Segoe Print" panose="02000600000000000000" charset="0"/>
              <a:cs typeface="Segoe Print" panose="02000600000000000000" charset="0"/>
              <a:sym typeface="Glacial Indifferenc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2245</Words>
  <Application>WPS 演示</Application>
  <PresentationFormat>On-screen Show (4:3)</PresentationFormat>
  <Paragraphs>132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9" baseType="lpstr">
      <vt:lpstr>Arial</vt:lpstr>
      <vt:lpstr>宋体</vt:lpstr>
      <vt:lpstr>Wingdings</vt:lpstr>
      <vt:lpstr>Calibri</vt:lpstr>
      <vt:lpstr>Calibri</vt:lpstr>
      <vt:lpstr>Calibri</vt:lpstr>
      <vt:lpstr>Segoe Print</vt:lpstr>
      <vt:lpstr>Glacial Indifference</vt:lpstr>
      <vt:lpstr>Cormorant Garamond Bold Italics</vt:lpstr>
      <vt:lpstr>Microsoft JhengHei UI Light</vt:lpstr>
      <vt:lpstr>Cormorant Garamond Bold</vt:lpstr>
      <vt:lpstr>Microsoft JhengHei Light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Purple Simple Research Proposal Presentation</dc:title>
  <dc:creator/>
  <cp:lastModifiedBy>Jhong</cp:lastModifiedBy>
  <cp:revision>16</cp:revision>
  <dcterms:created xsi:type="dcterms:W3CDTF">2006-08-16T00:00:00Z</dcterms:created>
  <dcterms:modified xsi:type="dcterms:W3CDTF">2026-01-12T10:02:40Z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2052-11.8.2.8411</vt:lpwstr>
  </property>
</Properties>
</file>